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BM Plex Sans" panose="020F0502020204030204" pitchFamily="34" charset="0"/>
      <p:regular r:id="rId14"/>
    </p:embeddedFont>
    <p:embeddedFont>
      <p:font typeface="Outfit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0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NxtJob.a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636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Optimizing Job Search Operations Through AI &amp; Professional Networking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528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comprehensive study at NxtJob.ai exploring the intersection of artificial intelligence and strategic networking in modern recruitment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833818"/>
            <a:ext cx="7556421" cy="1391364"/>
          </a:xfrm>
          <a:prstGeom prst="roundRect">
            <a:avLst>
              <a:gd name="adj" fmla="val 146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0830" y="4918830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28224" y="4985147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02624" y="4985147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Submitted By: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</a:rPr>
              <a:t>Varunesh R V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RA2452007010133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4803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05131"/>
            <a:ext cx="8805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Modern Job Search Landscape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808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Today's Reality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8329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Highly competitive, technology-driven market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2751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revolutionizing candidate screening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717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Networking platforms essential for success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51808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NxtJob.ai's Approach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599521" y="58329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AI-powered resume optimization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62751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LinkedIn outreach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717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Data-driven job matching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64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Industry Profile: HR Tech &amp; AI Recruitment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35787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15-20%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4316" y="44675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Annual Growth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958001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HR Tech market expansion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13684" y="3435787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4-10×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114330" y="44675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Referral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13684" y="4958001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effective than traditional applications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93895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tools now drive resume ranking, candidate filtering, and intelligent job recommendations—transforming hiring speed and quality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01353"/>
            <a:ext cx="7045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Company Profile: </a:t>
            </a:r>
            <a:r>
              <a:rPr lang="en-US" sz="4450" u="sng" dirty="0">
                <a:solidFill>
                  <a:srgbClr val="7B6BFA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NxtJob.ai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50294"/>
            <a:ext cx="3664744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2584728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AI-Optimized Resumes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075146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Data-backed content enhancement for maximum ATS compatibility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350294"/>
            <a:ext cx="3664863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06182" y="2584728"/>
            <a:ext cx="3185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Automated Job Matching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07514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algorithms align skills with opportunities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625102"/>
            <a:ext cx="7556421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4624" y="4859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LinkedIn Referrals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34995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outreach through professional networks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2024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Audience: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Working professionals with 5–15 years of experience seeking strategic career advancement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1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375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Primary Goals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68962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 AI tool effectiveness in resume optimization and job matching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8576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Study LinkedIn referral impact on placement outcomes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66273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client satisfaction and platform performance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0375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Secondary Focus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342721" y="368962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client demographic trends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4947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digital job search gaps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493692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 operational improvements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Research Hypotheses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Referral Effectiveness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Higher referral counts correlate with better job outcomes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907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Demographic Variance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satisfaction varies across demographic segments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Experience Factors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Familiarity, satisfaction, and purchase intent predict success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Brand Impact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recall influences client experience quality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Resume Quality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 accuracy impacts final conversion rates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4464"/>
            <a:ext cx="88601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Collection &amp; Analysis Methods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002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Sources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5232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Survey: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50 client respondents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9452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Metrics: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Industry, experience, satisfaction, outcomes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3672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Google Forms, Power BI, Excel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264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Statistical Methods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47854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Descriptive analysis for demographic patterns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2074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T-test for group comparisons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6293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ANOVA for multi-group differences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59096" y="267747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Chi-square for categorical relationships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959096" y="3119676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 analysis for strength of associations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959096" y="3924776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Regression modeling for outcome predictors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536"/>
            <a:ext cx="632912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Interpretation Insights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772841"/>
            <a:ext cx="4203978" cy="3147298"/>
          </a:xfrm>
          <a:prstGeom prst="roundRect">
            <a:avLst>
              <a:gd name="adj" fmla="val 616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39654" y="2018705"/>
            <a:ext cx="28435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Referral Impact (T-Test)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39654" y="2484477"/>
            <a:ext cx="37122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= -0.30, p = 0.77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39654" y="2958465"/>
            <a:ext cx="371225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with higher referral counts showed directionally better outcomes—proving referral-based networking drives job success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213152" y="1772841"/>
            <a:ext cx="4203978" cy="3147298"/>
          </a:xfrm>
          <a:prstGeom prst="roundRect">
            <a:avLst>
              <a:gd name="adj" fmla="val 616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59016" y="2018705"/>
            <a:ext cx="371225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Satisfaction Consistency (ANOVA)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59016" y="2821067"/>
            <a:ext cx="37122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≈ 2, p &gt; 0.05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59016" y="3295055"/>
            <a:ext cx="371225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Satisfaction levels remain uniform across all segments—NxtJob.ai delivers consistent service quality regardless of client background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32513" y="1772841"/>
            <a:ext cx="4203978" cy="3147298"/>
          </a:xfrm>
          <a:prstGeom prst="roundRect">
            <a:avLst>
              <a:gd name="adj" fmla="val 616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78378" y="2018705"/>
            <a:ext cx="371225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Familiarity Independence (Chi-Square)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78378" y="2821067"/>
            <a:ext cx="37122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χ² = 0.45, p = 0.93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878378" y="3295055"/>
            <a:ext cx="371225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Familiarity alone doesn't drive success—action-oriented support and execution matter more than brand awareness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93790" y="537793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Weak Correlations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790" y="5929908"/>
            <a:ext cx="625852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Familiarity </a:t>
            </a: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↔</a:t>
            </a: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Satisfaction: </a:t>
            </a: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0.166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3790" y="6476167"/>
            <a:ext cx="625852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Satisfaction </a:t>
            </a: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↔</a:t>
            </a: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Purchase: </a:t>
            </a: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0.031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3790" y="7022425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 depends on multiple independent factors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85710" y="5377934"/>
            <a:ext cx="297549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Limited Predictive Power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85710" y="5929908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R² = 0.004, p = 0.86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85710" y="6468547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market forces dominate over internal metrics in determining outcomes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Research Findings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01522" y="2864882"/>
            <a:ext cx="237136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28%</a:t>
            </a:r>
            <a:endParaRPr lang="en-US" sz="3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252" y="1659850"/>
            <a:ext cx="2892028" cy="28920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2234" y="47927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Successfully Placed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5209580"/>
            <a:ext cx="41869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conversion rate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9457" y="2864882"/>
            <a:ext cx="237136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40-45%</a:t>
            </a:r>
            <a:endParaRPr lang="en-US" sz="3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186" y="1659850"/>
            <a:ext cx="2892028" cy="2892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10168" y="47927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Satisfied Clients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21724" y="5209580"/>
            <a:ext cx="41869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 experience rating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557391" y="2864882"/>
            <a:ext cx="237136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60%</a:t>
            </a:r>
            <a:endParaRPr lang="en-US" sz="3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7120" y="1659850"/>
            <a:ext cx="2892028" cy="28920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35433" y="4792742"/>
            <a:ext cx="32152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Resume Improvement Needed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49658" y="5209580"/>
            <a:ext cx="41869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Accuracy rated neutral or below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3790" y="5927527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Client Profile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793790" y="6481763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segment: 8-15 years experience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93790" y="6857524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industries: IT and Finance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93790" y="723328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goal: Better opportunities (28%)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557968" y="5927527"/>
            <a:ext cx="290905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Platform Performance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7557968" y="6481763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 still in active process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57968" y="6857524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 client drop-off rate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557968" y="723328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Moderate brand recall (3.3/5)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7142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2956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Enhance AI Capabilities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advanced ML models for superior resume accuracy and personalized job recommendations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3261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Scale Referral Generation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 deeper LinkedIn automation to maximize referral opportunities and networking reach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35186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Strengthen Digital Presence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consistent social media strategy and content marketing to boost brand recall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3515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Improve Client Engagement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WhatsApp and email automation for timely updates, reducing drop-off rates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0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394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NxtJob.ai's hybrid AI + referral model proves effective, with referrals as the strongest predictor of success. Strategic improvements in automation, branding, and resume quality will unlock significant scaling potential.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474" y="3220403"/>
            <a:ext cx="6287453" cy="3932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27194" y="5106091"/>
            <a:ext cx="1296267" cy="217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Resume Quality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66775" y="6768513"/>
            <a:ext cx="1296267" cy="217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Branding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006718" y="5105246"/>
            <a:ext cx="1296268" cy="217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66775" y="3387067"/>
            <a:ext cx="1296267" cy="217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Referrals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624</Words>
  <Application>Microsoft Office PowerPoint</Application>
  <PresentationFormat>Custom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Outfit Light</vt:lpstr>
      <vt:lpstr>Arial</vt:lpstr>
      <vt:lpstr>IBM Plex Sans</vt:lpstr>
      <vt:lpstr>Outfit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Varunesh RV</cp:lastModifiedBy>
  <cp:revision>2</cp:revision>
  <dcterms:created xsi:type="dcterms:W3CDTF">2025-12-16T15:56:52Z</dcterms:created>
  <dcterms:modified xsi:type="dcterms:W3CDTF">2026-06-25T10:22:11Z</dcterms:modified>
</cp:coreProperties>
</file>